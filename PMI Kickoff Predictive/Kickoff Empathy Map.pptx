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7"/>
  </p:handout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BFF4"/>
    <a:srgbClr val="FCFBF5"/>
    <a:srgbClr val="575757"/>
    <a:srgbClr val="ABABAB"/>
    <a:srgbClr val="4F17A8"/>
    <a:srgbClr val="FF610F"/>
    <a:srgbClr val="0080A8"/>
    <a:srgbClr val="59D4EB"/>
    <a:srgbClr val="DAF5FA"/>
    <a:srgbClr val="ABE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58" d="100"/>
          <a:sy n="58" d="100"/>
        </p:scale>
        <p:origin x="1646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3" d="100"/>
          <a:sy n="53" d="100"/>
        </p:scale>
        <p:origin x="282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8675E-F82F-4DA5-BF8C-B5D18C1FF4D6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B1488-130C-457C-8115-14F5633B2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344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7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8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1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2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6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5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7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5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6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7878A-898F-4A26-9FBA-610546BF91F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7AEB8-4CC2-4230-B29F-E3519A22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8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8"/>
          <a:stretch/>
        </p:blipFill>
        <p:spPr>
          <a:xfrm>
            <a:off x="1205750" y="6181542"/>
            <a:ext cx="1556021" cy="612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103457" y="242312"/>
            <a:ext cx="5838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grandir" panose="00000500000000000000" pitchFamily="50" charset="0"/>
              </a:rPr>
              <a:t>Empathy Map</a:t>
            </a:r>
            <a:endParaRPr lang="en-US" sz="4800" dirty="0">
              <a:solidFill>
                <a:schemeClr val="bg1"/>
              </a:solidFill>
              <a:latin typeface="Agrandir" panose="00000500000000000000" pitchFamily="50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9622521" y="6344111"/>
            <a:ext cx="1673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ABABAB"/>
                </a:solidFill>
                <a:latin typeface="Agrandir" panose="00000500000000000000" pitchFamily="50" charset="0"/>
                <a:cs typeface="Arial" panose="020B0604020202020204" pitchFamily="34" charset="0"/>
              </a:rPr>
              <a:t>kickoff.pmi.org</a:t>
            </a: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748" y="1200917"/>
            <a:ext cx="7390092" cy="3960000"/>
          </a:xfrm>
          <a:prstGeom prst="rect">
            <a:avLst/>
          </a:prstGeom>
        </p:spPr>
      </p:pic>
      <p:grpSp>
        <p:nvGrpSpPr>
          <p:cNvPr id="33" name="Grupo 32"/>
          <p:cNvGrpSpPr/>
          <p:nvPr/>
        </p:nvGrpSpPr>
        <p:grpSpPr>
          <a:xfrm>
            <a:off x="1205748" y="5221598"/>
            <a:ext cx="10082635" cy="895305"/>
            <a:chOff x="2244633" y="5423606"/>
            <a:chExt cx="7704000" cy="895305"/>
          </a:xfrm>
        </p:grpSpPr>
        <p:sp>
          <p:nvSpPr>
            <p:cNvPr id="31" name="Rectángulo 30"/>
            <p:cNvSpPr/>
            <p:nvPr/>
          </p:nvSpPr>
          <p:spPr>
            <a:xfrm>
              <a:off x="2244633" y="5423606"/>
              <a:ext cx="3852000" cy="895305"/>
            </a:xfrm>
            <a:prstGeom prst="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ángulo 31"/>
            <p:cNvSpPr/>
            <p:nvPr/>
          </p:nvSpPr>
          <p:spPr>
            <a:xfrm>
              <a:off x="6096633" y="5423606"/>
              <a:ext cx="3852000" cy="895305"/>
            </a:xfrm>
            <a:prstGeom prst="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CuadroTexto 33"/>
          <p:cNvSpPr txBox="1"/>
          <p:nvPr/>
        </p:nvSpPr>
        <p:spPr>
          <a:xfrm>
            <a:off x="1272872" y="5284323"/>
            <a:ext cx="80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Pain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6283106" y="5284323"/>
            <a:ext cx="80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1568683" y="2619694"/>
            <a:ext cx="129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Hear?</a:t>
            </a:r>
          </a:p>
        </p:txBody>
      </p:sp>
      <p:sp>
        <p:nvSpPr>
          <p:cNvPr id="37" name="CuadroTexto 36"/>
          <p:cNvSpPr txBox="1"/>
          <p:nvPr/>
        </p:nvSpPr>
        <p:spPr>
          <a:xfrm>
            <a:off x="6940701" y="2619694"/>
            <a:ext cx="129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See?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3487579" y="4201683"/>
            <a:ext cx="1295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Say and do?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3487579" y="1467155"/>
            <a:ext cx="1295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Think and feel?</a:t>
            </a:r>
          </a:p>
        </p:txBody>
      </p:sp>
      <p:sp>
        <p:nvSpPr>
          <p:cNvPr id="40" name="Rectángulo 39"/>
          <p:cNvSpPr/>
          <p:nvPr/>
        </p:nvSpPr>
        <p:spPr>
          <a:xfrm>
            <a:off x="8631840" y="1200917"/>
            <a:ext cx="2664000" cy="3942000"/>
          </a:xfrm>
          <a:prstGeom prst="rect">
            <a:avLst/>
          </a:prstGeom>
          <a:solidFill>
            <a:srgbClr val="05B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CuadroTexto 40"/>
          <p:cNvSpPr txBox="1"/>
          <p:nvPr/>
        </p:nvSpPr>
        <p:spPr>
          <a:xfrm>
            <a:off x="8784954" y="1282489"/>
            <a:ext cx="23046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users interact with a crude prototype. Then, place sticky notes in the relevant sections to document their needs and assist in better decision making.</a:t>
            </a:r>
          </a:p>
        </p:txBody>
      </p:sp>
      <p:sp>
        <p:nvSpPr>
          <p:cNvPr id="46" name="CuadroTexto 45"/>
          <p:cNvSpPr txBox="1"/>
          <p:nvPr/>
        </p:nvSpPr>
        <p:spPr>
          <a:xfrm rot="16200000">
            <a:off x="-755786" y="2860021"/>
            <a:ext cx="319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does he/she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18C62FDA-F4B0-4500-ADC6-8EC948B07393}"/>
              </a:ext>
            </a:extLst>
          </p:cNvPr>
          <p:cNvSpPr txBox="1"/>
          <p:nvPr/>
        </p:nvSpPr>
        <p:spPr>
          <a:xfrm>
            <a:off x="2079778" y="5351761"/>
            <a:ext cx="2924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Fear, frustration, obstacles…</a:t>
            </a: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DF0DD9E1-A2DF-4CBF-8FEF-2B466557A6DF}"/>
              </a:ext>
            </a:extLst>
          </p:cNvPr>
          <p:cNvSpPr txBox="1"/>
          <p:nvPr/>
        </p:nvSpPr>
        <p:spPr>
          <a:xfrm>
            <a:off x="6941718" y="5351761"/>
            <a:ext cx="384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Wants/needs, measures of success, obstacles…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19">
            <a:extLst>
              <a:ext uri="{FF2B5EF4-FFF2-40B4-BE49-F238E27FC236}">
                <a16:creationId xmlns:a16="http://schemas.microsoft.com/office/drawing/2014/main" id="{68F41F7E-AC5C-43A7-8A31-925FAE7ADE71}"/>
              </a:ext>
            </a:extLst>
          </p:cNvPr>
          <p:cNvSpPr txBox="1"/>
          <p:nvPr/>
        </p:nvSpPr>
        <p:spPr>
          <a:xfrm>
            <a:off x="4630057" y="4212231"/>
            <a:ext cx="1872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Attitude in public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Appearance?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Behavior toward others?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CABDAF3C-F3F1-4ACE-B5D1-63C3B0C86A22}"/>
              </a:ext>
            </a:extLst>
          </p:cNvPr>
          <p:cNvSpPr txBox="1"/>
          <p:nvPr/>
        </p:nvSpPr>
        <p:spPr>
          <a:xfrm>
            <a:off x="5943894" y="3063551"/>
            <a:ext cx="2292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Environment?</a:t>
            </a:r>
          </a:p>
          <a:p>
            <a:pPr algn="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Friends?</a:t>
            </a:r>
          </a:p>
          <a:p>
            <a:pPr algn="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What the market offers?</a:t>
            </a:r>
          </a:p>
        </p:txBody>
      </p:sp>
      <p:sp>
        <p:nvSpPr>
          <p:cNvPr id="51" name="TextBox 13">
            <a:extLst>
              <a:ext uri="{FF2B5EF4-FFF2-40B4-BE49-F238E27FC236}">
                <a16:creationId xmlns:a16="http://schemas.microsoft.com/office/drawing/2014/main" id="{F5AE4C26-771A-4C9B-8436-446F54BFA633}"/>
              </a:ext>
            </a:extLst>
          </p:cNvPr>
          <p:cNvSpPr txBox="1"/>
          <p:nvPr/>
        </p:nvSpPr>
        <p:spPr>
          <a:xfrm>
            <a:off x="1546620" y="3063551"/>
            <a:ext cx="297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What friends say?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What boss say?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What influencers say?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BEC5FEE5-A4E7-4AF1-A960-7D3330AA6A03}"/>
              </a:ext>
            </a:extLst>
          </p:cNvPr>
          <p:cNvSpPr txBox="1"/>
          <p:nvPr/>
        </p:nvSpPr>
        <p:spPr>
          <a:xfrm>
            <a:off x="4630057" y="1468171"/>
            <a:ext cx="293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What really counts?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Major preoccupations?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Worries and aspirations?</a:t>
            </a:r>
          </a:p>
        </p:txBody>
      </p:sp>
    </p:spTree>
    <p:extLst>
      <p:ext uri="{BB962C8B-B14F-4D97-AF65-F5344CB8AC3E}">
        <p14:creationId xmlns:p14="http://schemas.microsoft.com/office/powerpoint/2010/main" val="22671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7604-C9CE-5C27-1253-9712C64D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6B72AE0-05DA-AEAC-10A7-5562AF3AA1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8"/>
          <a:stretch/>
        </p:blipFill>
        <p:spPr>
          <a:xfrm>
            <a:off x="1205750" y="6181542"/>
            <a:ext cx="1556021" cy="612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6121C34-244B-4D13-D562-0BB549CD4CFF}"/>
              </a:ext>
            </a:extLst>
          </p:cNvPr>
          <p:cNvSpPr txBox="1"/>
          <p:nvPr/>
        </p:nvSpPr>
        <p:spPr>
          <a:xfrm>
            <a:off x="1103457" y="242312"/>
            <a:ext cx="5838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grandir" panose="00000500000000000000" pitchFamily="50" charset="0"/>
              </a:rPr>
              <a:t>Empathy Map</a:t>
            </a:r>
            <a:endParaRPr lang="en-US" sz="4800" dirty="0">
              <a:solidFill>
                <a:schemeClr val="bg1"/>
              </a:solidFill>
              <a:latin typeface="Agrandir" panose="000005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33D985-62F7-17FD-04A7-8E25B1159381}"/>
              </a:ext>
            </a:extLst>
          </p:cNvPr>
          <p:cNvSpPr txBox="1"/>
          <p:nvPr/>
        </p:nvSpPr>
        <p:spPr>
          <a:xfrm>
            <a:off x="9622521" y="6344111"/>
            <a:ext cx="1673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ABABAB"/>
                </a:solidFill>
                <a:latin typeface="Agrandir" panose="00000500000000000000" pitchFamily="50" charset="0"/>
                <a:cs typeface="Arial" panose="020B0604020202020204" pitchFamily="34" charset="0"/>
              </a:rPr>
              <a:t>kickoff.pmi.org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506EBADA-81A5-3C04-191A-C8CB3B74F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748" y="1200917"/>
            <a:ext cx="7390092" cy="3960000"/>
          </a:xfrm>
          <a:prstGeom prst="rect">
            <a:avLst/>
          </a:prstGeom>
        </p:spPr>
      </p:pic>
      <p:grpSp>
        <p:nvGrpSpPr>
          <p:cNvPr id="33" name="Grupo 32">
            <a:extLst>
              <a:ext uri="{FF2B5EF4-FFF2-40B4-BE49-F238E27FC236}">
                <a16:creationId xmlns:a16="http://schemas.microsoft.com/office/drawing/2014/main" id="{F4C5ACD6-38EA-FF2F-FAC3-3426F30A1744}"/>
              </a:ext>
            </a:extLst>
          </p:cNvPr>
          <p:cNvGrpSpPr/>
          <p:nvPr/>
        </p:nvGrpSpPr>
        <p:grpSpPr>
          <a:xfrm>
            <a:off x="1205748" y="5221598"/>
            <a:ext cx="10082635" cy="895305"/>
            <a:chOff x="2244633" y="5423606"/>
            <a:chExt cx="7704000" cy="895305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A3BC59F4-6869-E101-94B1-6D308A6D7881}"/>
                </a:ext>
              </a:extLst>
            </p:cNvPr>
            <p:cNvSpPr/>
            <p:nvPr/>
          </p:nvSpPr>
          <p:spPr>
            <a:xfrm>
              <a:off x="2244633" y="5423606"/>
              <a:ext cx="3852000" cy="895305"/>
            </a:xfrm>
            <a:prstGeom prst="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BD44B46-59FD-1F5E-E8DD-01F21AB3CFC8}"/>
                </a:ext>
              </a:extLst>
            </p:cNvPr>
            <p:cNvSpPr/>
            <p:nvPr/>
          </p:nvSpPr>
          <p:spPr>
            <a:xfrm>
              <a:off x="6096633" y="5423606"/>
              <a:ext cx="3852000" cy="895305"/>
            </a:xfrm>
            <a:prstGeom prst="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9CD9F84-45BB-E102-C5D7-59E3AA1DCBA6}"/>
              </a:ext>
            </a:extLst>
          </p:cNvPr>
          <p:cNvSpPr txBox="1"/>
          <p:nvPr/>
        </p:nvSpPr>
        <p:spPr>
          <a:xfrm>
            <a:off x="1272872" y="5284323"/>
            <a:ext cx="80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Pain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4976047-BC1E-4AB0-B8D7-D8D245A0E617}"/>
              </a:ext>
            </a:extLst>
          </p:cNvPr>
          <p:cNvSpPr txBox="1"/>
          <p:nvPr/>
        </p:nvSpPr>
        <p:spPr>
          <a:xfrm>
            <a:off x="6283106" y="5284323"/>
            <a:ext cx="80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ABFE23F-13F5-5DBE-2EC3-BE1E32E7E79B}"/>
              </a:ext>
            </a:extLst>
          </p:cNvPr>
          <p:cNvSpPr txBox="1"/>
          <p:nvPr/>
        </p:nvSpPr>
        <p:spPr>
          <a:xfrm>
            <a:off x="1466343" y="2356745"/>
            <a:ext cx="129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Hear?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7A3AD32-8C38-9A02-53DD-8C3C6A6BCC75}"/>
              </a:ext>
            </a:extLst>
          </p:cNvPr>
          <p:cNvSpPr txBox="1"/>
          <p:nvPr/>
        </p:nvSpPr>
        <p:spPr>
          <a:xfrm>
            <a:off x="6940701" y="2308351"/>
            <a:ext cx="129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See?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16CCBA9-27DB-05F8-D556-5D83CBE988DA}"/>
              </a:ext>
            </a:extLst>
          </p:cNvPr>
          <p:cNvSpPr txBox="1"/>
          <p:nvPr/>
        </p:nvSpPr>
        <p:spPr>
          <a:xfrm>
            <a:off x="3487579" y="4201683"/>
            <a:ext cx="1295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Say and do?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08D13D9-332D-7E1F-380E-E3E91AB033EC}"/>
              </a:ext>
            </a:extLst>
          </p:cNvPr>
          <p:cNvSpPr txBox="1"/>
          <p:nvPr/>
        </p:nvSpPr>
        <p:spPr>
          <a:xfrm>
            <a:off x="2610358" y="1329671"/>
            <a:ext cx="1295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Think and feel?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3292801-6840-CE63-B71C-7DC2B42F4C66}"/>
              </a:ext>
            </a:extLst>
          </p:cNvPr>
          <p:cNvSpPr/>
          <p:nvPr/>
        </p:nvSpPr>
        <p:spPr>
          <a:xfrm>
            <a:off x="8631840" y="1200917"/>
            <a:ext cx="2664000" cy="3942000"/>
          </a:xfrm>
          <a:prstGeom prst="rect">
            <a:avLst/>
          </a:prstGeom>
          <a:solidFill>
            <a:srgbClr val="05B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02B2EBD-872F-63DB-B3EE-CEAD083DD5D2}"/>
              </a:ext>
            </a:extLst>
          </p:cNvPr>
          <p:cNvSpPr txBox="1"/>
          <p:nvPr/>
        </p:nvSpPr>
        <p:spPr>
          <a:xfrm>
            <a:off x="8784954" y="1282489"/>
            <a:ext cx="23046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users interact with a crude prototype. Then, place sticky notes in the relevant sections to document their needs and assist in better decision making.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370D8C7-FD7E-3CB4-FDFD-EDF222805A8B}"/>
              </a:ext>
            </a:extLst>
          </p:cNvPr>
          <p:cNvSpPr txBox="1"/>
          <p:nvPr/>
        </p:nvSpPr>
        <p:spPr>
          <a:xfrm rot="16200000">
            <a:off x="-755786" y="2860021"/>
            <a:ext cx="319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does he/she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4A7D669-B68F-9038-7E7F-8AC3099E720D}"/>
              </a:ext>
            </a:extLst>
          </p:cNvPr>
          <p:cNvSpPr txBox="1"/>
          <p:nvPr/>
        </p:nvSpPr>
        <p:spPr>
          <a:xfrm>
            <a:off x="1983760" y="5253751"/>
            <a:ext cx="5245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Plants dying from inconsistent care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No solution for plant care during vacations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Overwhelmed by complex gardening advice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Wasting money on plants that don't survive </a:t>
            </a: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58D03EED-DE10-D8B9-8645-7F6AEBA75C7A}"/>
              </a:ext>
            </a:extLst>
          </p:cNvPr>
          <p:cNvSpPr txBox="1"/>
          <p:nvPr/>
        </p:nvSpPr>
        <p:spPr>
          <a:xfrm>
            <a:off x="6957954" y="5069084"/>
            <a:ext cx="384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/>
              <a:t>Healthy plants with minimal effort</a:t>
            </a:r>
          </a:p>
          <a:p>
            <a:r>
              <a:rPr lang="en-US" sz="1200" dirty="0"/>
              <a:t>Peace of mind while traveling</a:t>
            </a:r>
          </a:p>
          <a:p>
            <a:r>
              <a:rPr lang="en-US" sz="1200" dirty="0"/>
              <a:t>Simple app to monitor and control the garden</a:t>
            </a:r>
          </a:p>
          <a:p>
            <a:r>
              <a:rPr lang="en-US" sz="1200" dirty="0"/>
              <a:t>Save water through smart irrigation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19">
            <a:extLst>
              <a:ext uri="{FF2B5EF4-FFF2-40B4-BE49-F238E27FC236}">
                <a16:creationId xmlns:a16="http://schemas.microsoft.com/office/drawing/2014/main" id="{6465E50A-AEC2-50C7-84AD-87406C9DD3CF}"/>
              </a:ext>
            </a:extLst>
          </p:cNvPr>
          <p:cNvSpPr txBox="1"/>
          <p:nvPr/>
        </p:nvSpPr>
        <p:spPr>
          <a:xfrm>
            <a:off x="4474341" y="3821645"/>
            <a:ext cx="1872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Sets reminders to water (often forgets)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Asks neighbors to help when traveling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Says: "I love plants but can't keep them alive" </a:t>
            </a:r>
          </a:p>
        </p:txBody>
      </p:sp>
      <p:sp>
        <p:nvSpPr>
          <p:cNvPr id="51" name="TextBox 13">
            <a:extLst>
              <a:ext uri="{FF2B5EF4-FFF2-40B4-BE49-F238E27FC236}">
                <a16:creationId xmlns:a16="http://schemas.microsoft.com/office/drawing/2014/main" id="{E8A51ECA-B6EE-EA2D-BF72-41BFA33E3482}"/>
              </a:ext>
            </a:extLst>
          </p:cNvPr>
          <p:cNvSpPr txBox="1"/>
          <p:nvPr/>
        </p:nvSpPr>
        <p:spPr>
          <a:xfrm>
            <a:off x="1272872" y="2703794"/>
            <a:ext cx="29794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Friends: "I always forget to water my plants"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Family: "Who'll care for plants when we're away?"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Influencers: "Smart home devices make life easier" 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4BDA8435-A8C5-2A3E-A63E-6AEC3CBFC5E8}"/>
              </a:ext>
            </a:extLst>
          </p:cNvPr>
          <p:cNvSpPr txBox="1"/>
          <p:nvPr/>
        </p:nvSpPr>
        <p:spPr>
          <a:xfrm>
            <a:off x="3941786" y="1329671"/>
            <a:ext cx="2937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"I want healthy plants but don't have time to monitor them daily"</a:t>
            </a:r>
          </a:p>
          <a:p>
            <a:r>
              <a:rPr lang="en-US" sz="1200" dirty="0"/>
              <a:t>Worried about plants dying during travel or busy periods</a:t>
            </a:r>
          </a:p>
          <a:p>
            <a:r>
              <a:rPr lang="en-US" sz="1200" dirty="0"/>
              <a:t>Feels guilty when plants wilt from neglect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5F57B0D-33DF-34BB-B6F3-7E277DC3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7EC006B-C53D-EB0D-B746-7B0366FD2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94476-5574-2626-A087-CCD6D0243076}"/>
              </a:ext>
            </a:extLst>
          </p:cNvPr>
          <p:cNvSpPr txBox="1"/>
          <p:nvPr/>
        </p:nvSpPr>
        <p:spPr>
          <a:xfrm>
            <a:off x="6201689" y="2699384"/>
            <a:ext cx="2368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Smart home products becoming mainstream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Neighbors with neglected gardens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Unpredictable weather patterns affecting plants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91494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BAC33E40A8AB4AB9A126D298799E78" ma:contentTypeVersion="12" ma:contentTypeDescription="Create a new document." ma:contentTypeScope="" ma:versionID="393e3809860021ea4b53ed9d1e2ad736">
  <xsd:schema xmlns:xsd="http://www.w3.org/2001/XMLSchema" xmlns:xs="http://www.w3.org/2001/XMLSchema" xmlns:p="http://schemas.microsoft.com/office/2006/metadata/properties" xmlns:ns3="9926c504-9366-4d27-ba67-e7df4b72c3ca" xmlns:ns4="675b2d5a-2a5b-4198-b316-84224b1699b9" targetNamespace="http://schemas.microsoft.com/office/2006/metadata/properties" ma:root="true" ma:fieldsID="94008880fd668028e4b73c345dde1642" ns3:_="" ns4:_="">
    <xsd:import namespace="9926c504-9366-4d27-ba67-e7df4b72c3ca"/>
    <xsd:import namespace="675b2d5a-2a5b-4198-b316-84224b1699b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6c504-9366-4d27-ba67-e7df4b72c3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5b2d5a-2a5b-4198-b316-84224b1699b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79ED51-1039-4D20-A007-501576C8CF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26c504-9366-4d27-ba67-e7df4b72c3ca"/>
    <ds:schemaRef ds:uri="675b2d5a-2a5b-4198-b316-84224b1699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640C7F-549B-4D46-A516-01106634F57D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9926c504-9366-4d27-ba67-e7df4b72c3ca"/>
    <ds:schemaRef ds:uri="http://schemas.microsoft.com/office/infopath/2007/PartnerControls"/>
    <ds:schemaRef ds:uri="http://purl.org/dc/elements/1.1/"/>
    <ds:schemaRef ds:uri="675b2d5a-2a5b-4198-b316-84224b1699b9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66298DF-1E56-4424-BB25-C89EE5ADAB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322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Agrandir</vt:lpstr>
      <vt:lpstr>Arial</vt:lpstr>
      <vt:lpstr>Calibri</vt:lpstr>
      <vt:lpstr>Calibri Light</vt:lpstr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Krisha Lakhani</cp:lastModifiedBy>
  <cp:revision>156</cp:revision>
  <dcterms:created xsi:type="dcterms:W3CDTF">2020-11-02T03:47:28Z</dcterms:created>
  <dcterms:modified xsi:type="dcterms:W3CDTF">2026-01-12T22:20:07Z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0x01010063BAC33E40A8AB4AB9A126D298799E78</vt:lpwstr>
  </property>
</Properties>
</file>